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2" autoAdjust="0"/>
    <p:restoredTop sz="87070" autoAdjust="0"/>
  </p:normalViewPr>
  <p:slideViewPr>
    <p:cSldViewPr snapToGrid="0" snapToObjects="1">
      <p:cViewPr>
        <p:scale>
          <a:sx n="100" d="100"/>
          <a:sy n="100" d="100"/>
        </p:scale>
        <p:origin x="762" y="324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355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ALEC_MASTER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futuristic_smart_classroom_interior_viewe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>
              <a:alpha val="84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411480" y="137160"/>
            <a:ext cx="2286000" cy="0"/>
          </a:xfrm>
          <a:prstGeom prst="line">
            <a:avLst/>
          </a:prstGeom>
          <a:noFill/>
          <a:ln w="13970">
            <a:solidFill>
              <a:srgbClr val="17D9F7">
                <a:alpha val="4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18320" y="6537960"/>
            <a:ext cx="2194560" cy="0"/>
          </a:xfrm>
          <a:prstGeom prst="line">
            <a:avLst/>
          </a:prstGeom>
          <a:noFill/>
          <a:ln w="13970">
            <a:solidFill>
              <a:srgbClr val="21D4B0">
                <a:alpha val="4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1500000">
            <a:off x="-914400" y="-1051560"/>
            <a:ext cx="3017520" cy="3017520"/>
          </a:xfrm>
          <a:prstGeom prst="arc">
            <a:avLst/>
          </a:prstGeom>
          <a:noFill/>
          <a:ln w="20320">
            <a:solidFill>
              <a:srgbClr val="17D9F7">
                <a:alpha val="4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200000">
            <a:off x="10012680" y="5166360"/>
            <a:ext cx="2834640" cy="2834640"/>
          </a:xfrm>
          <a:prstGeom prst="arc">
            <a:avLst/>
          </a:prstGeom>
          <a:noFill/>
          <a:ln w="17780">
            <a:solidFill>
              <a:srgbClr val="21D4B0">
                <a:alpha val="39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653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Visualec • AI + Computer Vision + IoT Energy Management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6111F">
              <a:alpha val="93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658368" y="91440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17D9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VISUALEC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694944" y="166420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6FAFF"/>
                </a:solidFill>
              </a:rPr>
              <a:t>AI-Powered Vision-Based Adaptive Grid Energy Management System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13232" y="27432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BCD2"/>
                </a:solidFill>
              </a:rPr>
              <a:t>Symposium Paper Presentation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13232" y="3127248"/>
            <a:ext cx="1554480" cy="0"/>
          </a:xfrm>
          <a:prstGeom prst="line">
            <a:avLst/>
          </a:prstGeom>
          <a:noFill/>
          <a:ln w="25400">
            <a:solidFill>
              <a:srgbClr val="21D4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401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6FAFF"/>
                </a:solidFill>
              </a:rPr>
              <a:t>MulticoreWare Annual R&amp;D Symposium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13232" y="519379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US" sz="1250" dirty="0">
                <a:solidFill>
                  <a:srgbClr val="A8BCD2"/>
                </a:solidFill>
              </a:rPr>
              <a:t>Presenter: Sarvesh </a:t>
            </a:r>
            <a:r>
              <a:rPr lang="en-US" sz="1250" dirty="0" err="1">
                <a:solidFill>
                  <a:srgbClr val="A8BCD2"/>
                </a:solidFill>
              </a:rPr>
              <a:t>Sivasankaran</a:t>
            </a:r>
            <a:br>
              <a:rPr lang="en-US" sz="1250" dirty="0">
                <a:solidFill>
                  <a:srgbClr val="A8BCD2"/>
                </a:solidFill>
              </a:rPr>
            </a:br>
            <a:r>
              <a:rPr lang="en-US" sz="1250" dirty="0">
                <a:solidFill>
                  <a:srgbClr val="A8BCD2"/>
                </a:solidFill>
              </a:rPr>
              <a:t>Faculty Mentor: Anitha 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BCD2"/>
                </a:solidFill>
              </a:rPr>
              <a:t>Rajalakshmi Engineering College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13232" y="3977640"/>
            <a:ext cx="594360" cy="329184"/>
          </a:xfrm>
          <a:prstGeom prst="roundRect">
            <a:avLst>
              <a:gd name="adj" fmla="val 16667"/>
            </a:avLst>
          </a:prstGeom>
          <a:solidFill>
            <a:srgbClr val="17D9F7">
              <a:alpha val="14000"/>
            </a:srgbClr>
          </a:solidFill>
          <a:ln w="8890">
            <a:solidFill>
              <a:srgbClr val="17D9F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4"/>
          <p:cNvSpPr/>
          <p:nvPr/>
        </p:nvSpPr>
        <p:spPr>
          <a:xfrm>
            <a:off x="822960" y="4069080"/>
            <a:ext cx="374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6FAFF"/>
                </a:solidFill>
              </a:rPr>
              <a:t>AI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1417320" y="397764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1D4B0">
              <a:alpha val="14000"/>
            </a:srgbClr>
          </a:solidFill>
          <a:ln w="8890">
            <a:solidFill>
              <a:srgbClr val="21D4B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6"/>
          <p:cNvSpPr/>
          <p:nvPr/>
        </p:nvSpPr>
        <p:spPr>
          <a:xfrm>
            <a:off x="1527048" y="4069080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6FAFF"/>
                </a:solidFill>
              </a:rPr>
              <a:t>Computer Vision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2944368" y="3977640"/>
            <a:ext cx="685800" cy="329184"/>
          </a:xfrm>
          <a:prstGeom prst="roundRect">
            <a:avLst>
              <a:gd name="adj" fmla="val 16667"/>
            </a:avLst>
          </a:prstGeom>
          <a:solidFill>
            <a:srgbClr val="72F082">
              <a:alpha val="14000"/>
            </a:srgbClr>
          </a:solidFill>
          <a:ln w="8890">
            <a:solidFill>
              <a:srgbClr val="72F082">
                <a:alpha val="6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54096" y="4069080"/>
            <a:ext cx="4663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6FAFF"/>
                </a:solidFill>
              </a:rPr>
              <a:t>IoT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3739896" y="397764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FFD166">
              <a:alpha val="14000"/>
            </a:srgbClr>
          </a:solidFill>
          <a:ln w="8890">
            <a:solidFill>
              <a:srgbClr val="FFD166">
                <a:alpha val="6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9624" y="4069080"/>
            <a:ext cx="1472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6FAFF"/>
                </a:solidFill>
              </a:rPr>
              <a:t>Energy Optimisation</a:t>
            </a:r>
            <a:endParaRPr lang="en-US" sz="92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EF60E8A7-0DB2-486B-ACBD-281F7DF8B20D}"/>
              </a:ext>
            </a:extLst>
          </p:cNvPr>
          <p:cNvSpPr/>
          <p:nvPr/>
        </p:nvSpPr>
        <p:spPr>
          <a:xfrm>
            <a:off x="713232" y="4517136"/>
            <a:ext cx="1182243" cy="329184"/>
          </a:xfrm>
          <a:prstGeom prst="roundRect">
            <a:avLst>
              <a:gd name="adj" fmla="val 16667"/>
            </a:avLst>
          </a:prstGeom>
          <a:solidFill>
            <a:srgbClr val="21D4B0">
              <a:alpha val="14000"/>
            </a:srgbClr>
          </a:solidFill>
          <a:ln w="8890">
            <a:solidFill>
              <a:srgbClr val="21D4B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518AC7D3-8BF4-B647-1838-E45A59494281}"/>
              </a:ext>
            </a:extLst>
          </p:cNvPr>
          <p:cNvSpPr/>
          <p:nvPr/>
        </p:nvSpPr>
        <p:spPr>
          <a:xfrm>
            <a:off x="814958" y="4564589"/>
            <a:ext cx="994791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6FAFF"/>
                </a:solidFill>
              </a:rPr>
              <a:t>SDG: 7, 9, 11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046527E-DFF1-5A96-516D-0801AE423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6100" y="100966"/>
            <a:ext cx="1485595" cy="47972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8B76DD2-9D49-6F7D-8ED6-F8BD5D87BB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3612" y="154561"/>
            <a:ext cx="2112488" cy="33095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BA2C0A0-321F-F21F-DD7A-53D10C0F0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950" y="137160"/>
            <a:ext cx="1604088" cy="5388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411480" y="137160"/>
            <a:ext cx="2286000" cy="0"/>
          </a:xfrm>
          <a:prstGeom prst="line">
            <a:avLst/>
          </a:prstGeom>
          <a:noFill/>
          <a:ln w="13970">
            <a:solidFill>
              <a:srgbClr val="17D9F7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6537960"/>
            <a:ext cx="2194560" cy="0"/>
          </a:xfrm>
          <a:prstGeom prst="line">
            <a:avLst/>
          </a:prstGeom>
          <a:noFill/>
          <a:ln w="13970">
            <a:solidFill>
              <a:srgbClr val="21D4B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-914400" y="-1051560"/>
            <a:ext cx="3017520" cy="3017520"/>
          </a:xfrm>
          <a:prstGeom prst="arc">
            <a:avLst/>
          </a:prstGeom>
          <a:noFill/>
          <a:ln w="20320">
            <a:solidFill>
              <a:srgbClr val="17D9F7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00000">
            <a:off x="10012680" y="5166360"/>
            <a:ext cx="2834640" cy="2834640"/>
          </a:xfrm>
          <a:prstGeom prst="arc">
            <a:avLst/>
          </a:prstGeom>
          <a:noFill/>
          <a:ln w="17780">
            <a:solidFill>
              <a:srgbClr val="21D4B0">
                <a:alpha val="39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Visualec • AI + Computer Vision + IoT Energy Management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9260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&amp; Motivation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66928" y="804672"/>
            <a:ext cx="2011680" cy="0"/>
          </a:xfrm>
          <a:prstGeom prst="line">
            <a:avLst/>
          </a:prstGeom>
          <a:noFill/>
          <a:ln w="26670">
            <a:solidFill>
              <a:srgbClr val="17D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144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adaptive zone-level appliance control is needed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64224" y="1197864"/>
            <a:ext cx="5330952" cy="4142232"/>
          </a:xfrm>
          <a:prstGeom prst="roundRect">
            <a:avLst>
              <a:gd name="adj" fmla="val 1766"/>
            </a:avLst>
          </a:prstGeom>
          <a:solidFill>
            <a:srgbClr val="0D2238"/>
          </a:solidFill>
          <a:ln w="9525">
            <a:solidFill>
              <a:srgbClr val="17D9F7">
                <a:alpha val="70000"/>
              </a:srgbClr>
            </a:solidFill>
            <a:prstDash val="solid"/>
          </a:ln>
        </p:spPr>
      </p:sp>
      <p:pic>
        <p:nvPicPr>
          <p:cNvPr id="12" name="Image 0" descr="/mnt/data/a_wide_isometric_cutaway_3d_rendered_interior_sce_batch_2.png"/>
          <p:cNvPicPr>
            <a:picLocks noChangeAspect="1"/>
          </p:cNvPicPr>
          <p:nvPr/>
        </p:nvPicPr>
        <p:blipFill>
          <a:blip r:embed="rId3"/>
          <a:srcRect l="8000" t="4000" r="32369" b="14000"/>
          <a:stretch/>
        </p:blipFill>
        <p:spPr>
          <a:xfrm>
            <a:off x="6400800" y="1234440"/>
            <a:ext cx="5257800" cy="4069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" y="1261872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D9F7"/>
                </a:solidFill>
              </a:rPr>
              <a:t>OBSERVED GAP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1600200"/>
            <a:ext cx="51663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6FAFF"/>
                </a:solidFill>
              </a:rPr>
              <a:t>Electrical appliances often remain ON in unused areas because control is manual, schedule-based, or too coarse-grained.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13232" y="2606040"/>
            <a:ext cx="507492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Classrooms, labs and offices have dynamic occupancy patterns.</a:t>
            </a:r>
            <a:endParaRPr lang="en-US" sz="1520" dirty="0"/>
          </a:p>
          <a:p>
            <a:r>
              <a:rPr lang="en-US" sz="15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PIR sensors only provide basic presence detection and limited spatial understanding.</a:t>
            </a:r>
            <a:endParaRPr lang="en-US" sz="1520" dirty="0"/>
          </a:p>
          <a:p>
            <a:r>
              <a:rPr lang="en-US" sz="15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Manual switching fails when users forget or move between sections.</a:t>
            </a:r>
            <a:endParaRPr lang="en-US" sz="1520" dirty="0"/>
          </a:p>
          <a:p>
            <a:r>
              <a:rPr lang="en-US" sz="15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Energy control must react at zone level, not only room level.</a:t>
            </a:r>
            <a:endParaRPr lang="en-US" sz="1520" dirty="0"/>
          </a:p>
        </p:txBody>
      </p:sp>
      <p:sp>
        <p:nvSpPr>
          <p:cNvPr id="16" name="Shape 13"/>
          <p:cNvSpPr/>
          <p:nvPr/>
        </p:nvSpPr>
        <p:spPr>
          <a:xfrm>
            <a:off x="713232" y="5074920"/>
            <a:ext cx="5074920" cy="1061720"/>
          </a:xfrm>
          <a:prstGeom prst="roundRect">
            <a:avLst>
              <a:gd name="adj" fmla="val 9756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5221224"/>
            <a:ext cx="685800" cy="0"/>
          </a:xfrm>
          <a:prstGeom prst="line">
            <a:avLst/>
          </a:prstGeom>
          <a:noFill/>
          <a:ln w="27940">
            <a:solidFill>
              <a:srgbClr val="FFD1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5330952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Need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14400" y="5733288"/>
            <a:ext cx="467258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BCD2"/>
                </a:solidFill>
              </a:rPr>
              <a:t>An affordable system that detects actual occupancy and controls appliances only where needed.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2286000" cy="0"/>
          </a:xfrm>
          <a:prstGeom prst="line">
            <a:avLst/>
          </a:prstGeom>
          <a:noFill/>
          <a:ln w="13970">
            <a:solidFill>
              <a:srgbClr val="17D9F7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6537960"/>
            <a:ext cx="2194560" cy="0"/>
          </a:xfrm>
          <a:prstGeom prst="line">
            <a:avLst/>
          </a:prstGeom>
          <a:noFill/>
          <a:ln w="13970">
            <a:solidFill>
              <a:srgbClr val="21D4B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-914400" y="-1051560"/>
            <a:ext cx="3017520" cy="3017520"/>
          </a:xfrm>
          <a:prstGeom prst="arc">
            <a:avLst/>
          </a:prstGeom>
          <a:noFill/>
          <a:ln w="20320">
            <a:solidFill>
              <a:srgbClr val="17D9F7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00000">
            <a:off x="10012680" y="5166360"/>
            <a:ext cx="2834640" cy="2834640"/>
          </a:xfrm>
          <a:prstGeom prst="arc">
            <a:avLst/>
          </a:prstGeom>
          <a:noFill/>
          <a:ln w="17780">
            <a:solidFill>
              <a:srgbClr val="21D4B0">
                <a:alpha val="39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Visualec • AI + Computer Vision + IoT Energy Management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9260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Objective &amp; Contributions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66928" y="804672"/>
            <a:ext cx="2011680" cy="0"/>
          </a:xfrm>
          <a:prstGeom prst="line">
            <a:avLst/>
          </a:prstGeom>
          <a:noFill/>
          <a:ln w="26670">
            <a:solidFill>
              <a:srgbClr val="17D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144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outcomes expected from the Visualec prototype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1280160"/>
            <a:ext cx="2788920" cy="1874520"/>
          </a:xfrm>
          <a:prstGeom prst="roundRect">
            <a:avLst>
              <a:gd name="adj" fmla="val 3902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1426464"/>
            <a:ext cx="685800" cy="0"/>
          </a:xfrm>
          <a:prstGeom prst="line">
            <a:avLst/>
          </a:prstGeom>
          <a:noFill/>
          <a:ln w="27940">
            <a:solidFill>
              <a:srgbClr val="17D9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53619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Objective 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1248" y="1938528"/>
            <a:ext cx="238658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8BCD2"/>
                </a:solidFill>
              </a:rPr>
              <a:t>Detect people from a live camera feed and map their position to room zones.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703320" y="1280160"/>
            <a:ext cx="2788920" cy="1874520"/>
          </a:xfrm>
          <a:prstGeom prst="roundRect">
            <a:avLst>
              <a:gd name="adj" fmla="val 3902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04488" y="1426464"/>
            <a:ext cx="685800" cy="0"/>
          </a:xfrm>
          <a:prstGeom prst="line">
            <a:avLst/>
          </a:prstGeom>
          <a:noFill/>
          <a:ln w="27940">
            <a:solidFill>
              <a:srgbClr val="72F0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4488" y="153619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Objective 2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904488" y="1938528"/>
            <a:ext cx="238658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8BCD2"/>
                </a:solidFill>
              </a:rPr>
              <a:t>Control only zone-linked lights, fans or prototype loads using ESP32 and relays.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766560" y="1280160"/>
            <a:ext cx="2788920" cy="1874520"/>
          </a:xfrm>
          <a:prstGeom prst="roundRect">
            <a:avLst>
              <a:gd name="adj" fmla="val 3902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67728" y="1426464"/>
            <a:ext cx="685800" cy="0"/>
          </a:xfrm>
          <a:prstGeom prst="line">
            <a:avLst/>
          </a:prstGeom>
          <a:noFill/>
          <a:ln w="2794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153619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Objective 3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967728" y="1938528"/>
            <a:ext cx="238658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8BCD2"/>
                </a:solidFill>
              </a:rPr>
              <a:t>Monitor occupancy, relay state and estimated energy usage in real time.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8368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FAFF"/>
                </a:solidFill>
              </a:rPr>
              <a:t>Key Contributions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5800" y="4160520"/>
            <a:ext cx="566928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Vision-based zone-level occupancy detection.</a:t>
            </a:r>
            <a:endParaRPr lang="en-US" sz="1520" dirty="0"/>
          </a:p>
          <a:p>
            <a:r>
              <a:rPr lang="en-US" sz="15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AI-driven adaptive appliance switching logic.</a:t>
            </a:r>
            <a:endParaRPr lang="en-US" sz="1520" dirty="0"/>
          </a:p>
          <a:p>
            <a:r>
              <a:rPr lang="en-US" sz="15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ESP32 Wi-Fi relay control layer.</a:t>
            </a:r>
            <a:endParaRPr lang="en-US" sz="1520" dirty="0"/>
          </a:p>
          <a:p>
            <a:r>
              <a:rPr lang="en-US" sz="15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Dashboard for manual override and analytics.</a:t>
            </a:r>
            <a:endParaRPr lang="en-US" sz="1520" dirty="0"/>
          </a:p>
          <a:p>
            <a:r>
              <a:rPr lang="en-US" sz="15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Scalable route from laptop-based MVP to edge-AI nodes.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6547104" y="3621024"/>
            <a:ext cx="4965192" cy="2313432"/>
          </a:xfrm>
          <a:prstGeom prst="roundRect">
            <a:avLst>
              <a:gd name="adj" fmla="val 3162"/>
            </a:avLst>
          </a:prstGeom>
          <a:solidFill>
            <a:srgbClr val="0D2238"/>
          </a:solidFill>
          <a:ln w="9525">
            <a:solidFill>
              <a:srgbClr val="17D9F7">
                <a:alpha val="70000"/>
              </a:srgbClr>
            </a:solidFill>
            <a:prstDash val="solid"/>
          </a:ln>
        </p:spPr>
      </p:sp>
      <p:pic>
        <p:nvPicPr>
          <p:cNvPr id="26" name="Image 0" descr="/mnt/data/wide_interior_scene_of_a_modern_classroom_or_lectu_batch_3.png"/>
          <p:cNvPicPr>
            <a:picLocks noChangeAspect="1"/>
          </p:cNvPicPr>
          <p:nvPr/>
        </p:nvPicPr>
        <p:blipFill>
          <a:blip r:embed="rId3"/>
          <a:srcRect t="9316" b="9315"/>
          <a:stretch/>
        </p:blipFill>
        <p:spPr>
          <a:xfrm>
            <a:off x="6583680" y="3657600"/>
            <a:ext cx="489204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terior_scene_of_a_modern_classroom_or_lectu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>
              <a:alpha val="72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11480" y="137160"/>
            <a:ext cx="2286000" cy="0"/>
          </a:xfrm>
          <a:prstGeom prst="line">
            <a:avLst/>
          </a:prstGeom>
          <a:noFill/>
          <a:ln w="13970">
            <a:solidFill>
              <a:srgbClr val="17D9F7">
                <a:alpha val="4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18320" y="6537960"/>
            <a:ext cx="2194560" cy="0"/>
          </a:xfrm>
          <a:prstGeom prst="line">
            <a:avLst/>
          </a:prstGeom>
          <a:noFill/>
          <a:ln w="13970">
            <a:solidFill>
              <a:srgbClr val="21D4B0">
                <a:alpha val="4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1500000">
            <a:off x="-914400" y="-1051560"/>
            <a:ext cx="3017520" cy="3017520"/>
          </a:xfrm>
          <a:prstGeom prst="arc">
            <a:avLst/>
          </a:prstGeom>
          <a:noFill/>
          <a:ln w="20320">
            <a:solidFill>
              <a:srgbClr val="17D9F7">
                <a:alpha val="4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200000">
            <a:off x="10012680" y="5166360"/>
            <a:ext cx="2834640" cy="2834640"/>
          </a:xfrm>
          <a:prstGeom prst="arc">
            <a:avLst/>
          </a:prstGeom>
          <a:noFill/>
          <a:ln w="17780">
            <a:solidFill>
              <a:srgbClr val="21D4B0">
                <a:alpha val="39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653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Visualec • AI + Computer Vision + IoT Energy Management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29260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Visualec System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566928" y="804672"/>
            <a:ext cx="2011680" cy="0"/>
          </a:xfrm>
          <a:prstGeom prst="line">
            <a:avLst/>
          </a:prstGeom>
          <a:noFill/>
          <a:ln w="26670">
            <a:solidFill>
              <a:srgbClr val="17D9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847725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Laptop-based AI inference with ESP32 embedded actuation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0" y="1133856"/>
            <a:ext cx="6263640" cy="5358384"/>
          </a:xfrm>
          <a:prstGeom prst="rect">
            <a:avLst/>
          </a:prstGeom>
          <a:solidFill>
            <a:srgbClr val="06111F">
              <a:alpha val="93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1417320"/>
            <a:ext cx="256032" cy="256032"/>
          </a:xfrm>
          <a:prstGeom prst="ellipse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146304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014984" y="1408176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Laptop camera captures the room.</a:t>
            </a:r>
            <a:endParaRPr lang="en-US" sz="1380" dirty="0"/>
          </a:p>
        </p:txBody>
      </p:sp>
      <p:sp>
        <p:nvSpPr>
          <p:cNvPr id="16" name="Shape 13"/>
          <p:cNvSpPr/>
          <p:nvPr/>
        </p:nvSpPr>
        <p:spPr>
          <a:xfrm>
            <a:off x="658368" y="2075688"/>
            <a:ext cx="256032" cy="256032"/>
          </a:xfrm>
          <a:prstGeom prst="ellipse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1214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14984" y="2066544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YOLO detects people in the frame.</a:t>
            </a:r>
            <a:endParaRPr lang="en-US" sz="1380" dirty="0"/>
          </a:p>
        </p:txBody>
      </p:sp>
      <p:sp>
        <p:nvSpPr>
          <p:cNvPr id="19" name="Shape 16"/>
          <p:cNvSpPr/>
          <p:nvPr/>
        </p:nvSpPr>
        <p:spPr>
          <a:xfrm>
            <a:off x="658368" y="2734056"/>
            <a:ext cx="256032" cy="256032"/>
          </a:xfrm>
          <a:prstGeom prst="ellipse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277977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3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14984" y="2724912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Zones identify where people are located.</a:t>
            </a:r>
            <a:endParaRPr lang="en-US" sz="1380" dirty="0"/>
          </a:p>
        </p:txBody>
      </p:sp>
      <p:sp>
        <p:nvSpPr>
          <p:cNvPr id="22" name="Shape 19"/>
          <p:cNvSpPr/>
          <p:nvPr/>
        </p:nvSpPr>
        <p:spPr>
          <a:xfrm>
            <a:off x="658368" y="3392424"/>
            <a:ext cx="256032" cy="256032"/>
          </a:xfrm>
          <a:prstGeom prst="ellipse">
            <a:avLst/>
          </a:prstGeom>
          <a:solidFill>
            <a:srgbClr val="72F082"/>
          </a:solidFill>
          <a:ln w="12700">
            <a:solidFill>
              <a:srgbClr val="72F08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34381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4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14984" y="338328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Decision engine selects appliances.</a:t>
            </a:r>
            <a:endParaRPr lang="en-US" sz="1380" dirty="0"/>
          </a:p>
        </p:txBody>
      </p:sp>
      <p:sp>
        <p:nvSpPr>
          <p:cNvPr id="25" name="Shape 22"/>
          <p:cNvSpPr/>
          <p:nvPr/>
        </p:nvSpPr>
        <p:spPr>
          <a:xfrm>
            <a:off x="658368" y="4050792"/>
            <a:ext cx="256032" cy="256032"/>
          </a:xfrm>
          <a:prstGeom prst="ellipse">
            <a:avLst/>
          </a:prstGeom>
          <a:solidFill>
            <a:srgbClr val="72F082"/>
          </a:solidFill>
          <a:ln w="12700">
            <a:solidFill>
              <a:srgbClr val="72F082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" y="409651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5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014984" y="4041648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ESP32 receives relay commands.</a:t>
            </a:r>
            <a:endParaRPr lang="en-US" sz="1380" dirty="0"/>
          </a:p>
        </p:txBody>
      </p:sp>
      <p:sp>
        <p:nvSpPr>
          <p:cNvPr id="28" name="Shape 25"/>
          <p:cNvSpPr/>
          <p:nvPr/>
        </p:nvSpPr>
        <p:spPr>
          <a:xfrm>
            <a:off x="658368" y="4709160"/>
            <a:ext cx="256032" cy="256032"/>
          </a:xfrm>
          <a:prstGeom prst="ellipse">
            <a:avLst/>
          </a:prstGeom>
          <a:solidFill>
            <a:srgbClr val="72F082"/>
          </a:solidFill>
          <a:ln w="12700">
            <a:solidFill>
              <a:srgbClr val="72F082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475488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6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014984" y="4700016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Dashboard monitors live status.</a:t>
            </a:r>
            <a:endParaRPr lang="en-US" sz="1380" dirty="0"/>
          </a:p>
        </p:txBody>
      </p:sp>
      <p:sp>
        <p:nvSpPr>
          <p:cNvPr id="31" name="Shape 28"/>
          <p:cNvSpPr/>
          <p:nvPr/>
        </p:nvSpPr>
        <p:spPr>
          <a:xfrm>
            <a:off x="6492240" y="5102351"/>
            <a:ext cx="5074920" cy="841239"/>
          </a:xfrm>
          <a:prstGeom prst="roundRect">
            <a:avLst>
              <a:gd name="adj" fmla="val 9756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93408" y="5248656"/>
            <a:ext cx="685800" cy="0"/>
          </a:xfrm>
          <a:prstGeom prst="line">
            <a:avLst/>
          </a:prstGeom>
          <a:noFill/>
          <a:ln w="27940">
            <a:solidFill>
              <a:srgbClr val="21D4B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93408" y="5358384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MVP Focus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6693408" y="5724144"/>
            <a:ext cx="467258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BCD2"/>
                </a:solidFill>
              </a:rPr>
              <a:t>Run computer vision on the laptop; use ESP32 as a reliable relay controller.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2286000" cy="0"/>
          </a:xfrm>
          <a:prstGeom prst="line">
            <a:avLst/>
          </a:prstGeom>
          <a:noFill/>
          <a:ln w="13970">
            <a:solidFill>
              <a:srgbClr val="17D9F7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6537960"/>
            <a:ext cx="2194560" cy="0"/>
          </a:xfrm>
          <a:prstGeom prst="line">
            <a:avLst/>
          </a:prstGeom>
          <a:noFill/>
          <a:ln w="13970">
            <a:solidFill>
              <a:srgbClr val="21D4B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-914400" y="-1051560"/>
            <a:ext cx="3017520" cy="3017520"/>
          </a:xfrm>
          <a:prstGeom prst="arc">
            <a:avLst/>
          </a:prstGeom>
          <a:noFill/>
          <a:ln w="20320">
            <a:solidFill>
              <a:srgbClr val="17D9F7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00000">
            <a:off x="10012680" y="5166360"/>
            <a:ext cx="2834640" cy="2834640"/>
          </a:xfrm>
          <a:prstGeom prst="arc">
            <a:avLst/>
          </a:prstGeom>
          <a:noFill/>
          <a:ln w="17780">
            <a:solidFill>
              <a:srgbClr val="21D4B0">
                <a:alpha val="39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Visualec • AI + Computer Vision + IoT Energy Management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9260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Diagram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66928" y="804672"/>
            <a:ext cx="2011680" cy="0"/>
          </a:xfrm>
          <a:prstGeom prst="line">
            <a:avLst/>
          </a:prstGeom>
          <a:noFill/>
          <a:ln w="26670">
            <a:solidFill>
              <a:srgbClr val="17D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144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layer → AI decision layer → communication layer → embedded control</a:t>
            </a:r>
            <a:endParaRPr lang="en-US" sz="950" dirty="0"/>
          </a:p>
        </p:txBody>
      </p:sp>
      <p:pic>
        <p:nvPicPr>
          <p:cNvPr id="11" name="Image 0" descr="/mnt/data/visualec_system_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977" y="1225296"/>
            <a:ext cx="901728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2286000" cy="0"/>
          </a:xfrm>
          <a:prstGeom prst="line">
            <a:avLst/>
          </a:prstGeom>
          <a:noFill/>
          <a:ln w="13970">
            <a:solidFill>
              <a:srgbClr val="17D9F7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6537960"/>
            <a:ext cx="2194560" cy="0"/>
          </a:xfrm>
          <a:prstGeom prst="line">
            <a:avLst/>
          </a:prstGeom>
          <a:noFill/>
          <a:ln w="13970">
            <a:solidFill>
              <a:srgbClr val="21D4B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-914400" y="-1051560"/>
            <a:ext cx="3017520" cy="3017520"/>
          </a:xfrm>
          <a:prstGeom prst="arc">
            <a:avLst/>
          </a:prstGeom>
          <a:noFill/>
          <a:ln w="20320">
            <a:solidFill>
              <a:srgbClr val="17D9F7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00000">
            <a:off x="10012680" y="5166360"/>
            <a:ext cx="2834640" cy="2834640"/>
          </a:xfrm>
          <a:prstGeom prst="arc">
            <a:avLst/>
          </a:prstGeom>
          <a:noFill/>
          <a:ln w="17780">
            <a:solidFill>
              <a:srgbClr val="21D4B0">
                <a:alpha val="39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Visualec • AI + Computer Vision + IoT Energy Management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9260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Computer Vision &amp; Zone Detection Methodology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66928" y="804672"/>
            <a:ext cx="2011680" cy="0"/>
          </a:xfrm>
          <a:prstGeom prst="line">
            <a:avLst/>
          </a:prstGeom>
          <a:noFill/>
          <a:ln w="26670">
            <a:solidFill>
              <a:srgbClr val="17D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144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system converts people detection into energy-control decisions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5216" y="1225296"/>
            <a:ext cx="5971032" cy="4325112"/>
          </a:xfrm>
          <a:prstGeom prst="roundRect">
            <a:avLst>
              <a:gd name="adj" fmla="val 1691"/>
            </a:avLst>
          </a:prstGeom>
          <a:solidFill>
            <a:srgbClr val="0D2238"/>
          </a:solidFill>
          <a:ln w="9525">
            <a:solidFill>
              <a:srgbClr val="17D9F7">
                <a:alpha val="70000"/>
              </a:srgbClr>
            </a:solidFill>
            <a:prstDash val="solid"/>
          </a:ln>
        </p:spPr>
      </p:sp>
      <p:pic>
        <p:nvPicPr>
          <p:cNvPr id="12" name="Image 0" descr="/mnt/data/wide_interior_scene_of_a_modern_classroom_or_lectu_batch_3.png"/>
          <p:cNvPicPr>
            <a:picLocks noChangeAspect="1"/>
          </p:cNvPicPr>
          <p:nvPr/>
        </p:nvPicPr>
        <p:blipFill>
          <a:blip r:embed="rId3"/>
          <a:srcRect l="2000" t="2000" r="27741" b="8000"/>
          <a:stretch/>
        </p:blipFill>
        <p:spPr>
          <a:xfrm>
            <a:off x="621792" y="1261872"/>
            <a:ext cx="5897880" cy="42519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12280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D9F7"/>
                </a:solidFill>
              </a:rPr>
              <a:t>DETECTION METHOD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12280" y="1700784"/>
            <a:ext cx="256032" cy="256032"/>
          </a:xfrm>
          <a:prstGeom prst="ellipse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17465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1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168896" y="1691640"/>
            <a:ext cx="412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Capture frame using OpenCV.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6812280" y="2221992"/>
            <a:ext cx="256032" cy="256032"/>
          </a:xfrm>
          <a:prstGeom prst="ellipse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12280" y="226771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168896" y="2212848"/>
            <a:ext cx="412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Detect person class using lightweight YOLO.</a:t>
            </a:r>
            <a:endParaRPr lang="en-US" sz="1380" dirty="0"/>
          </a:p>
        </p:txBody>
      </p:sp>
      <p:sp>
        <p:nvSpPr>
          <p:cNvPr id="20" name="Shape 17"/>
          <p:cNvSpPr/>
          <p:nvPr/>
        </p:nvSpPr>
        <p:spPr>
          <a:xfrm>
            <a:off x="6812280" y="2743200"/>
            <a:ext cx="256032" cy="256032"/>
          </a:xfrm>
          <a:prstGeom prst="ellipse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12280" y="278892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168896" y="2734056"/>
            <a:ext cx="412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Calculate bounding-box bottom-centre point.</a:t>
            </a:r>
            <a:endParaRPr lang="en-US" sz="1380" dirty="0"/>
          </a:p>
        </p:txBody>
      </p:sp>
      <p:sp>
        <p:nvSpPr>
          <p:cNvPr id="23" name="Shape 20"/>
          <p:cNvSpPr/>
          <p:nvPr/>
        </p:nvSpPr>
        <p:spPr>
          <a:xfrm>
            <a:off x="6812280" y="3264408"/>
            <a:ext cx="256032" cy="256032"/>
          </a:xfrm>
          <a:prstGeom prst="ellipse">
            <a:avLst/>
          </a:prstGeom>
          <a:solidFill>
            <a:srgbClr val="21D4B0"/>
          </a:solidFill>
          <a:ln w="12700">
            <a:solidFill>
              <a:srgbClr val="21D4B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12280" y="33101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4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168896" y="3255264"/>
            <a:ext cx="412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Assign each person to the correct virtual zone.</a:t>
            </a:r>
            <a:endParaRPr lang="en-US" sz="1380" dirty="0"/>
          </a:p>
        </p:txBody>
      </p:sp>
      <p:sp>
        <p:nvSpPr>
          <p:cNvPr id="26" name="Shape 23"/>
          <p:cNvSpPr/>
          <p:nvPr/>
        </p:nvSpPr>
        <p:spPr>
          <a:xfrm>
            <a:off x="6812280" y="3785616"/>
            <a:ext cx="256032" cy="256032"/>
          </a:xfrm>
          <a:prstGeom prst="ellipse">
            <a:avLst/>
          </a:prstGeom>
          <a:solidFill>
            <a:srgbClr val="21D4B0"/>
          </a:solidFill>
          <a:ln w="12700">
            <a:solidFill>
              <a:srgbClr val="21D4B0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12280" y="383133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5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168896" y="3776472"/>
            <a:ext cx="412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Apply confidence threshold and filtering.</a:t>
            </a:r>
            <a:endParaRPr lang="en-US" sz="1380" dirty="0"/>
          </a:p>
        </p:txBody>
      </p:sp>
      <p:sp>
        <p:nvSpPr>
          <p:cNvPr id="29" name="Shape 26"/>
          <p:cNvSpPr/>
          <p:nvPr/>
        </p:nvSpPr>
        <p:spPr>
          <a:xfrm>
            <a:off x="6812280" y="4306824"/>
            <a:ext cx="256032" cy="256032"/>
          </a:xfrm>
          <a:prstGeom prst="ellipse">
            <a:avLst/>
          </a:prstGeom>
          <a:solidFill>
            <a:srgbClr val="21D4B0"/>
          </a:solidFill>
          <a:ln w="12700">
            <a:solidFill>
              <a:srgbClr val="21D4B0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435254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6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168896" y="4297680"/>
            <a:ext cx="412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Use ON/OFF delays to prevent relay flickering.</a:t>
            </a:r>
            <a:endParaRPr lang="en-US" sz="1380" dirty="0"/>
          </a:p>
        </p:txBody>
      </p:sp>
      <p:sp>
        <p:nvSpPr>
          <p:cNvPr id="32" name="Shape 29"/>
          <p:cNvSpPr/>
          <p:nvPr/>
        </p:nvSpPr>
        <p:spPr>
          <a:xfrm>
            <a:off x="6812280" y="5102351"/>
            <a:ext cx="4434840" cy="996693"/>
          </a:xfrm>
          <a:prstGeom prst="roundRect">
            <a:avLst>
              <a:gd name="adj" fmla="val 8889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13448" y="5248656"/>
            <a:ext cx="685800" cy="0"/>
          </a:xfrm>
          <a:prstGeom prst="line">
            <a:avLst/>
          </a:prstGeom>
          <a:noFill/>
          <a:ln w="27940">
            <a:solidFill>
              <a:srgbClr val="FFD16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013448" y="5358384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Why bottom-centre?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7013448" y="5760720"/>
            <a:ext cx="4032504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BCD2"/>
                </a:solidFill>
              </a:rPr>
              <a:t>It represents the person’s floor position better than the box centre, improving zone assignment.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411480" y="137160"/>
            <a:ext cx="2286000" cy="0"/>
          </a:xfrm>
          <a:prstGeom prst="line">
            <a:avLst/>
          </a:prstGeom>
          <a:noFill/>
          <a:ln w="13970">
            <a:solidFill>
              <a:srgbClr val="17D9F7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6537960"/>
            <a:ext cx="2194560" cy="0"/>
          </a:xfrm>
          <a:prstGeom prst="line">
            <a:avLst/>
          </a:prstGeom>
          <a:noFill/>
          <a:ln w="13970">
            <a:solidFill>
              <a:srgbClr val="21D4B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-914400" y="-1051560"/>
            <a:ext cx="3017520" cy="3017520"/>
          </a:xfrm>
          <a:prstGeom prst="arc">
            <a:avLst/>
          </a:prstGeom>
          <a:noFill/>
          <a:ln w="20320">
            <a:solidFill>
              <a:srgbClr val="17D9F7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00000">
            <a:off x="10012680" y="5166360"/>
            <a:ext cx="2834640" cy="2834640"/>
          </a:xfrm>
          <a:prstGeom prst="arc">
            <a:avLst/>
          </a:prstGeom>
          <a:noFill/>
          <a:ln w="17780">
            <a:solidFill>
              <a:srgbClr val="21D4B0">
                <a:alpha val="39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Visualec • AI + Computer Vision + IoT Energy Management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9260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&amp; Software Implementation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66928" y="804672"/>
            <a:ext cx="2011680" cy="0"/>
          </a:xfrm>
          <a:prstGeom prst="line">
            <a:avLst/>
          </a:prstGeom>
          <a:noFill/>
          <a:ln w="26670">
            <a:solidFill>
              <a:srgbClr val="17D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144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MVP setup for demonstration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D9F7"/>
                </a:solidFill>
              </a:rPr>
              <a:t>HARDWARE LAYER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1572768"/>
            <a:ext cx="5029200" cy="2057400"/>
          </a:xfrm>
          <a:prstGeom prst="roundRect">
            <a:avLst>
              <a:gd name="adj" fmla="val 3556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1719072"/>
            <a:ext cx="685800" cy="0"/>
          </a:xfrm>
          <a:prstGeom prst="line">
            <a:avLst/>
          </a:prstGeom>
          <a:noFill/>
          <a:ln w="27940">
            <a:solidFill>
              <a:srgbClr val="72F0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1828800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Prototype Components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86968" y="2231136"/>
            <a:ext cx="462686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8BCD2"/>
                </a:solidFill>
              </a:rPr>
              <a:t>• ESP32 development board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BCD2"/>
                </a:solidFill>
              </a:rPr>
              <a:t>• 4-channel relay module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BCD2"/>
                </a:solidFill>
              </a:rPr>
              <a:t>• Laptop webcam as vision input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BCD2"/>
                </a:solidFill>
              </a:rPr>
              <a:t>• Low-voltage bulbs or prototype loads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BCD2"/>
                </a:solidFill>
              </a:rPr>
              <a:t>• Regulated 5V power supply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D9F7"/>
                </a:solidFill>
              </a:rPr>
              <a:t>SOFTWARE LAYER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6520" y="1572768"/>
            <a:ext cx="5029200" cy="2057400"/>
          </a:xfrm>
          <a:prstGeom prst="roundRect">
            <a:avLst>
              <a:gd name="adj" fmla="val 3556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47688" y="1719072"/>
            <a:ext cx="685800" cy="0"/>
          </a:xfrm>
          <a:prstGeom prst="line">
            <a:avLst/>
          </a:prstGeom>
          <a:noFill/>
          <a:ln w="27940">
            <a:solidFill>
              <a:srgbClr val="17D9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1828800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Software Stack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47688" y="2231136"/>
            <a:ext cx="462686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8BCD2"/>
                </a:solidFill>
              </a:rPr>
              <a:t>• Python + OpenCV + YOLO for AI detection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BCD2"/>
                </a:solidFill>
              </a:rPr>
              <a:t>• FastAPI backend for control logic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BCD2"/>
                </a:solidFill>
              </a:rPr>
              <a:t>• React/Next.js dashboard for monitoring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BCD2"/>
                </a:solidFill>
              </a:rPr>
              <a:t>• SQLite for logs and analytics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BCD2"/>
                </a:solidFill>
              </a:rPr>
              <a:t>• HTTP/WebSocket for communication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667000" y="406908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68168" y="4215384"/>
            <a:ext cx="685800" cy="0"/>
          </a:xfrm>
          <a:prstGeom prst="line">
            <a:avLst/>
          </a:prstGeom>
          <a:noFill/>
          <a:ln w="2794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68168" y="432511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Relay Mapping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868168" y="4727448"/>
            <a:ext cx="284378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A8BCD2"/>
                </a:solidFill>
              </a:rPr>
              <a:t>Zone 1 → Relay 1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A8BCD2"/>
                </a:solidFill>
              </a:rPr>
              <a:t>Zone 2 → Relay 2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A8BCD2"/>
                </a:solidFill>
              </a:rPr>
              <a:t>Zone 3 → Relay 3</a:t>
            </a:r>
            <a:endParaRPr lang="en-US" sz="1330" dirty="0"/>
          </a:p>
        </p:txBody>
      </p:sp>
      <p:sp>
        <p:nvSpPr>
          <p:cNvPr id="25" name="Shape 23"/>
          <p:cNvSpPr/>
          <p:nvPr/>
        </p:nvSpPr>
        <p:spPr>
          <a:xfrm>
            <a:off x="6297168" y="4069080"/>
            <a:ext cx="3383280" cy="1261872"/>
          </a:xfrm>
          <a:prstGeom prst="roundRect">
            <a:avLst>
              <a:gd name="adj" fmla="val 5797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8336" y="4215384"/>
            <a:ext cx="685800" cy="0"/>
          </a:xfrm>
          <a:prstGeom prst="line">
            <a:avLst/>
          </a:prstGeom>
          <a:noFill/>
          <a:ln w="27940">
            <a:solidFill>
              <a:srgbClr val="21D4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8336" y="432511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ESP32 Role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98336" y="4727448"/>
            <a:ext cx="29809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8BCD2"/>
                </a:solidFill>
              </a:rPr>
              <a:t>Receives Wi-Fi commands, validates relay IDs, switches GPIO outputs and returns acknowledgement.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2286000" cy="0"/>
          </a:xfrm>
          <a:prstGeom prst="line">
            <a:avLst/>
          </a:prstGeom>
          <a:noFill/>
          <a:ln w="13970">
            <a:solidFill>
              <a:srgbClr val="17D9F7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6537960"/>
            <a:ext cx="2194560" cy="0"/>
          </a:xfrm>
          <a:prstGeom prst="line">
            <a:avLst/>
          </a:prstGeom>
          <a:noFill/>
          <a:ln w="13970">
            <a:solidFill>
              <a:srgbClr val="21D4B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-914400" y="-1051560"/>
            <a:ext cx="3017520" cy="3017520"/>
          </a:xfrm>
          <a:prstGeom prst="arc">
            <a:avLst/>
          </a:prstGeom>
          <a:noFill/>
          <a:ln w="20320">
            <a:solidFill>
              <a:srgbClr val="17D9F7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00000">
            <a:off x="10012680" y="5166360"/>
            <a:ext cx="2834640" cy="2834640"/>
          </a:xfrm>
          <a:prstGeom prst="arc">
            <a:avLst/>
          </a:prstGeom>
          <a:noFill/>
          <a:ln w="17780">
            <a:solidFill>
              <a:srgbClr val="21D4B0">
                <a:alpha val="39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Visualec • AI + Computer Vision + IoT Energy Management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9260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Workflow Diagram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66928" y="804672"/>
            <a:ext cx="2011680" cy="0"/>
          </a:xfrm>
          <a:prstGeom prst="line">
            <a:avLst/>
          </a:prstGeom>
          <a:noFill/>
          <a:ln w="26670">
            <a:solidFill>
              <a:srgbClr val="17D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144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real-time loop for adaptive appliance control</a:t>
            </a:r>
            <a:endParaRPr lang="en-US" sz="950" dirty="0"/>
          </a:p>
        </p:txBody>
      </p:sp>
      <p:pic>
        <p:nvPicPr>
          <p:cNvPr id="11" name="Image 0" descr="/mnt/data/visualec_system_workflow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977" y="1225296"/>
            <a:ext cx="901728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2286000" cy="0"/>
          </a:xfrm>
          <a:prstGeom prst="line">
            <a:avLst/>
          </a:prstGeom>
          <a:noFill/>
          <a:ln w="13970">
            <a:solidFill>
              <a:srgbClr val="17D9F7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6537960"/>
            <a:ext cx="2194560" cy="0"/>
          </a:xfrm>
          <a:prstGeom prst="line">
            <a:avLst/>
          </a:prstGeom>
          <a:noFill/>
          <a:ln w="13970">
            <a:solidFill>
              <a:srgbClr val="21D4B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-914400" y="-1051560"/>
            <a:ext cx="3017520" cy="3017520"/>
          </a:xfrm>
          <a:prstGeom prst="arc">
            <a:avLst/>
          </a:prstGeom>
          <a:noFill/>
          <a:ln w="20320">
            <a:solidFill>
              <a:srgbClr val="17D9F7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00000">
            <a:off x="10012680" y="5166360"/>
            <a:ext cx="2834640" cy="2834640"/>
          </a:xfrm>
          <a:prstGeom prst="arc">
            <a:avLst/>
          </a:prstGeom>
          <a:noFill/>
          <a:ln w="17780">
            <a:solidFill>
              <a:srgbClr val="21D4B0">
                <a:alpha val="39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Visualec • AI + Computer Vision + IoT Energy Management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9260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Operation &amp; Dashboard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66928" y="804672"/>
            <a:ext cx="2011680" cy="0"/>
          </a:xfrm>
          <a:prstGeom prst="line">
            <a:avLst/>
          </a:prstGeom>
          <a:noFill/>
          <a:ln w="26670">
            <a:solidFill>
              <a:srgbClr val="17D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144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monitoring, override and analytics for the MVP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18304" y="1207008"/>
            <a:ext cx="6976872" cy="4443984"/>
          </a:xfrm>
          <a:prstGeom prst="roundRect">
            <a:avLst>
              <a:gd name="adj" fmla="val 1646"/>
            </a:avLst>
          </a:prstGeom>
          <a:solidFill>
            <a:srgbClr val="0D2238"/>
          </a:solidFill>
          <a:ln w="9525">
            <a:solidFill>
              <a:srgbClr val="17D9F7">
                <a:alpha val="70000"/>
              </a:srgbClr>
            </a:solidFill>
            <a:prstDash val="solid"/>
          </a:ln>
        </p:spPr>
      </p:sp>
      <p:pic>
        <p:nvPicPr>
          <p:cNvPr id="12" name="Image 0" descr="/mnt/data/a_wide_high_resolution_dark_ui_dashboard_mockup_batch_4.png"/>
          <p:cNvPicPr>
            <a:picLocks noChangeAspect="1"/>
          </p:cNvPicPr>
          <p:nvPr/>
        </p:nvPicPr>
        <p:blipFill>
          <a:blip r:embed="rId3"/>
          <a:srcRect l="5553" r="5553"/>
          <a:stretch/>
        </p:blipFill>
        <p:spPr>
          <a:xfrm>
            <a:off x="4754880" y="1243584"/>
            <a:ext cx="6903720" cy="43708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120700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D9F7"/>
                </a:solidFill>
              </a:rPr>
              <a:t>DASHBOARD MODULES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13232" y="1609344"/>
            <a:ext cx="256032" cy="256032"/>
          </a:xfrm>
          <a:prstGeom prst="ellipse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16550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1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69848" y="160020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Live camera feed with zones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713232" y="2130552"/>
            <a:ext cx="256032" cy="256032"/>
          </a:xfrm>
          <a:prstGeom prst="ellipse">
            <a:avLst/>
          </a:prstGeom>
          <a:solidFill>
            <a:srgbClr val="72F082"/>
          </a:solidFill>
          <a:ln w="12700">
            <a:solidFill>
              <a:srgbClr val="72F082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217627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69848" y="2121408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Detected people and occupancy count</a:t>
            </a:r>
            <a:endParaRPr lang="en-US" sz="1380" dirty="0"/>
          </a:p>
        </p:txBody>
      </p:sp>
      <p:sp>
        <p:nvSpPr>
          <p:cNvPr id="20" name="Shape 17"/>
          <p:cNvSpPr/>
          <p:nvPr/>
        </p:nvSpPr>
        <p:spPr>
          <a:xfrm>
            <a:off x="713232" y="2651760"/>
            <a:ext cx="256032" cy="256032"/>
          </a:xfrm>
          <a:prstGeom prst="ellipse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269748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69848" y="2642616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Relay ON/OFF states</a:t>
            </a:r>
            <a:endParaRPr lang="en-US" sz="1380" dirty="0"/>
          </a:p>
        </p:txBody>
      </p:sp>
      <p:sp>
        <p:nvSpPr>
          <p:cNvPr id="23" name="Shape 20"/>
          <p:cNvSpPr/>
          <p:nvPr/>
        </p:nvSpPr>
        <p:spPr>
          <a:xfrm>
            <a:off x="713232" y="3172968"/>
            <a:ext cx="256032" cy="256032"/>
          </a:xfrm>
          <a:prstGeom prst="ellipse">
            <a:avLst/>
          </a:prstGeom>
          <a:solidFill>
            <a:srgbClr val="72F082"/>
          </a:solidFill>
          <a:ln w="12700">
            <a:solidFill>
              <a:srgbClr val="72F082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321868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4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69848" y="3163824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ESP32 connectivity</a:t>
            </a:r>
            <a:endParaRPr lang="en-US" sz="1380" dirty="0"/>
          </a:p>
        </p:txBody>
      </p:sp>
      <p:sp>
        <p:nvSpPr>
          <p:cNvPr id="26" name="Shape 23"/>
          <p:cNvSpPr/>
          <p:nvPr/>
        </p:nvSpPr>
        <p:spPr>
          <a:xfrm>
            <a:off x="713232" y="3694176"/>
            <a:ext cx="256032" cy="256032"/>
          </a:xfrm>
          <a:prstGeom prst="ellipse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3232" y="37398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5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69848" y="3685032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Automatic / manual mode</a:t>
            </a:r>
            <a:endParaRPr lang="en-US" sz="1380" dirty="0"/>
          </a:p>
        </p:txBody>
      </p:sp>
      <p:sp>
        <p:nvSpPr>
          <p:cNvPr id="29" name="Shape 26"/>
          <p:cNvSpPr/>
          <p:nvPr/>
        </p:nvSpPr>
        <p:spPr>
          <a:xfrm>
            <a:off x="713232" y="4215384"/>
            <a:ext cx="256032" cy="256032"/>
          </a:xfrm>
          <a:prstGeom prst="ellipse">
            <a:avLst/>
          </a:prstGeom>
          <a:solidFill>
            <a:srgbClr val="72F082"/>
          </a:solidFill>
          <a:ln w="12700">
            <a:solidFill>
              <a:srgbClr val="72F082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42611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6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69848" y="420624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Energy estimate and logs</a:t>
            </a:r>
            <a:endParaRPr lang="en-US" sz="1380" dirty="0"/>
          </a:p>
        </p:txBody>
      </p:sp>
      <p:sp>
        <p:nvSpPr>
          <p:cNvPr id="32" name="Shape 29"/>
          <p:cNvSpPr/>
          <p:nvPr/>
        </p:nvSpPr>
        <p:spPr>
          <a:xfrm>
            <a:off x="713232" y="5074920"/>
            <a:ext cx="3611880" cy="914400"/>
          </a:xfrm>
          <a:prstGeom prst="roundRect">
            <a:avLst>
              <a:gd name="adj" fmla="val 9412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14400" y="5221224"/>
            <a:ext cx="685800" cy="0"/>
          </a:xfrm>
          <a:prstGeom prst="line">
            <a:avLst/>
          </a:prstGeom>
          <a:noFill/>
          <a:ln w="27940">
            <a:solidFill>
              <a:srgbClr val="FFD16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4400" y="5330952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Control Modes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914400" y="5733288"/>
            <a:ext cx="32095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000" dirty="0">
                <a:solidFill>
                  <a:srgbClr val="A8BCD2"/>
                </a:solidFill>
              </a:rPr>
              <a:t>Automatic, manual, hybrid and emergency modes.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1480" y="137160"/>
            <a:ext cx="2286000" cy="0"/>
          </a:xfrm>
          <a:prstGeom prst="line">
            <a:avLst/>
          </a:prstGeom>
          <a:noFill/>
          <a:ln w="13970">
            <a:solidFill>
              <a:srgbClr val="17D9F7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6537960"/>
            <a:ext cx="2194560" cy="0"/>
          </a:xfrm>
          <a:prstGeom prst="line">
            <a:avLst/>
          </a:prstGeom>
          <a:noFill/>
          <a:ln w="13970">
            <a:solidFill>
              <a:srgbClr val="21D4B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-914400" y="-1051560"/>
            <a:ext cx="3017520" cy="3017520"/>
          </a:xfrm>
          <a:prstGeom prst="arc">
            <a:avLst/>
          </a:prstGeom>
          <a:noFill/>
          <a:ln w="20320">
            <a:solidFill>
              <a:srgbClr val="17D9F7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00000">
            <a:off x="10012680" y="5166360"/>
            <a:ext cx="2834640" cy="2834640"/>
          </a:xfrm>
          <a:prstGeom prst="arc">
            <a:avLst/>
          </a:prstGeom>
          <a:noFill/>
          <a:ln w="17780">
            <a:solidFill>
              <a:srgbClr val="21D4B0">
                <a:alpha val="39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Visualec • AI + Computer Vision + IoT Energy Management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9260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&amp; Energy-Saving Evaluation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66928" y="804672"/>
            <a:ext cx="2011680" cy="0"/>
          </a:xfrm>
          <a:prstGeom prst="line">
            <a:avLst/>
          </a:prstGeom>
          <a:noFill/>
          <a:ln w="26670">
            <a:solidFill>
              <a:srgbClr val="17D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144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to validate performance and energy impact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7D9F7"/>
                </a:solidFill>
              </a:rPr>
              <a:t>EVALUATION METRICS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4944" y="1664208"/>
            <a:ext cx="256032" cy="256032"/>
          </a:xfrm>
          <a:prstGeom prst="ellipse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7099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51560" y="1655064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Person-detection accuracy</a:t>
            </a:r>
            <a:endParaRPr lang="en-US" sz="1380" dirty="0"/>
          </a:p>
        </p:txBody>
      </p:sp>
      <p:sp>
        <p:nvSpPr>
          <p:cNvPr id="15" name="Shape 13"/>
          <p:cNvSpPr/>
          <p:nvPr/>
        </p:nvSpPr>
        <p:spPr>
          <a:xfrm>
            <a:off x="694944" y="2139696"/>
            <a:ext cx="256032" cy="256032"/>
          </a:xfrm>
          <a:prstGeom prst="ellipse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18541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51560" y="2130552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Zone-assignment accuracy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694944" y="2615184"/>
            <a:ext cx="256032" cy="256032"/>
          </a:xfrm>
          <a:prstGeom prst="ellipse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26609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51560" y="2606040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Detection FPS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694944" y="3090672"/>
            <a:ext cx="256032" cy="256032"/>
          </a:xfrm>
          <a:prstGeom prst="ellipse">
            <a:avLst/>
          </a:prstGeom>
          <a:solidFill>
            <a:srgbClr val="72F082"/>
          </a:solidFill>
          <a:ln w="12700">
            <a:solidFill>
              <a:srgbClr val="72F08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1363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51560" y="3081528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Relay response time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694944" y="3566160"/>
            <a:ext cx="256032" cy="256032"/>
          </a:xfrm>
          <a:prstGeom prst="ellipse">
            <a:avLst/>
          </a:prstGeom>
          <a:solidFill>
            <a:srgbClr val="72F082"/>
          </a:solidFill>
          <a:ln w="12700">
            <a:solidFill>
              <a:srgbClr val="72F08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61188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51560" y="3557016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Occupancy-state stability</a:t>
            </a:r>
            <a:endParaRPr lang="en-US" sz="1380" dirty="0"/>
          </a:p>
        </p:txBody>
      </p:sp>
      <p:sp>
        <p:nvSpPr>
          <p:cNvPr id="27" name="Shape 25"/>
          <p:cNvSpPr/>
          <p:nvPr/>
        </p:nvSpPr>
        <p:spPr>
          <a:xfrm>
            <a:off x="694944" y="4041648"/>
            <a:ext cx="256032" cy="256032"/>
          </a:xfrm>
          <a:prstGeom prst="ellipse">
            <a:avLst/>
          </a:prstGeom>
          <a:solidFill>
            <a:srgbClr val="72F082"/>
          </a:solidFill>
          <a:ln w="12700">
            <a:solidFill>
              <a:srgbClr val="72F08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408736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51560" y="4032504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F6FAFF"/>
                </a:solidFill>
              </a:rPr>
              <a:t>Estimated energy saved</a:t>
            </a:r>
            <a:endParaRPr lang="en-US" sz="1380" dirty="0"/>
          </a:p>
        </p:txBody>
      </p:sp>
      <p:sp>
        <p:nvSpPr>
          <p:cNvPr id="30" name="Shape 28"/>
          <p:cNvSpPr/>
          <p:nvPr/>
        </p:nvSpPr>
        <p:spPr>
          <a:xfrm>
            <a:off x="713232" y="498348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5129784"/>
            <a:ext cx="685800" cy="0"/>
          </a:xfrm>
          <a:prstGeom prst="line">
            <a:avLst/>
          </a:prstGeom>
          <a:noFill/>
          <a:ln w="27940">
            <a:solidFill>
              <a:srgbClr val="21D4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239512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Energy Formula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14400" y="5641848"/>
            <a:ext cx="416966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8BCD2"/>
                </a:solidFill>
              </a:rPr>
              <a:t>Energy consumed = Appliance power × Active runtime ÷ 1000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806440" y="1243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FAFF"/>
                </a:solidFill>
              </a:rPr>
              <a:t>Traditional vs Adaptive Operation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989320" y="5166360"/>
            <a:ext cx="4892040" cy="0"/>
          </a:xfrm>
          <a:prstGeom prst="line">
            <a:avLst/>
          </a:prstGeom>
          <a:noFill/>
          <a:ln w="12700">
            <a:solidFill>
              <a:srgbClr val="3554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1965960"/>
            <a:ext cx="0" cy="3200400"/>
          </a:xfrm>
          <a:prstGeom prst="line">
            <a:avLst/>
          </a:prstGeom>
          <a:noFill/>
          <a:ln w="12700">
            <a:solidFill>
              <a:srgbClr val="3554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2491740"/>
            <a:ext cx="685800" cy="2674620"/>
          </a:xfrm>
          <a:prstGeom prst="rect">
            <a:avLst/>
          </a:prstGeom>
          <a:solidFill>
            <a:srgbClr val="FF8A5B"/>
          </a:solidFill>
          <a:ln w="12700">
            <a:solidFill>
              <a:srgbClr val="FF8A5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1625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</a:rPr>
              <a:t>4.5 kWh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5349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CD2"/>
                </a:solidFill>
              </a:rPr>
              <a:t>Baseline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BCD2"/>
                </a:solidFill>
              </a:rPr>
              <a:t>All 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863840" y="3918204"/>
            <a:ext cx="685800" cy="1248156"/>
          </a:xfrm>
          <a:prstGeom prst="rect">
            <a:avLst/>
          </a:prstGeom>
          <a:solidFill>
            <a:srgbClr val="72F082"/>
          </a:solidFill>
          <a:ln w="12700">
            <a:solidFill>
              <a:srgbClr val="72F082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6680" y="35890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</a:rPr>
              <a:t>2.1 kWh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43800" y="5349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CD2"/>
                </a:solidFill>
              </a:rPr>
              <a:t>Visualec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BCD2"/>
                </a:solidFill>
              </a:rPr>
              <a:t>Adaptive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281160" y="3739896"/>
            <a:ext cx="685800" cy="1426464"/>
          </a:xfrm>
          <a:prstGeom prst="rect">
            <a:avLst/>
          </a:prstGeom>
          <a:solidFill>
            <a:srgbClr val="17D9F7"/>
          </a:solidFill>
          <a:ln w="12700">
            <a:solidFill>
              <a:srgbClr val="17D9F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0" y="341071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AFF"/>
                </a:solidFill>
              </a:rPr>
              <a:t>2.4 kWh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61120" y="5349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CD2"/>
                </a:solidFill>
              </a:rPr>
              <a:t>Saved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BCD2"/>
                </a:solidFill>
              </a:rPr>
              <a:t>Energy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futuristic_smart_classroom_interior_viewe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>
              <a:alpha val="64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11480" y="137160"/>
            <a:ext cx="2286000" cy="0"/>
          </a:xfrm>
          <a:prstGeom prst="line">
            <a:avLst/>
          </a:prstGeom>
          <a:noFill/>
          <a:ln w="13970">
            <a:solidFill>
              <a:srgbClr val="17D9F7">
                <a:alpha val="4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18320" y="6537960"/>
            <a:ext cx="2194560" cy="0"/>
          </a:xfrm>
          <a:prstGeom prst="line">
            <a:avLst/>
          </a:prstGeom>
          <a:noFill/>
          <a:ln w="13970">
            <a:solidFill>
              <a:srgbClr val="21D4B0">
                <a:alpha val="4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1500000">
            <a:off x="-914400" y="-1051560"/>
            <a:ext cx="3017520" cy="3017520"/>
          </a:xfrm>
          <a:prstGeom prst="arc">
            <a:avLst/>
          </a:prstGeom>
          <a:noFill/>
          <a:ln w="20320">
            <a:solidFill>
              <a:srgbClr val="17D9F7">
                <a:alpha val="4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200000">
            <a:off x="10012680" y="5166360"/>
            <a:ext cx="2834640" cy="2834640"/>
          </a:xfrm>
          <a:prstGeom prst="arc">
            <a:avLst/>
          </a:prstGeom>
          <a:noFill/>
          <a:ln w="17780">
            <a:solidFill>
              <a:srgbClr val="21D4B0">
                <a:alpha val="39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653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Visualec • AI + Computer Vision + IoT Energy Management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29260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Limitations, Edge Deployment &amp; Future Scope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566928" y="804672"/>
            <a:ext cx="2011680" cy="0"/>
          </a:xfrm>
          <a:prstGeom prst="line">
            <a:avLst/>
          </a:prstGeom>
          <a:noFill/>
          <a:ln w="26670">
            <a:solidFill>
              <a:srgbClr val="17D9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9144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boundaries and the path to scalable research deployment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0" y="1143000"/>
            <a:ext cx="12191695" cy="5212080"/>
          </a:xfrm>
          <a:prstGeom prst="rect">
            <a:avLst/>
          </a:prstGeom>
          <a:solidFill>
            <a:srgbClr val="06111F">
              <a:alpha val="88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4173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6968" y="1563624"/>
            <a:ext cx="685800" cy="0"/>
          </a:xfrm>
          <a:prstGeom prst="line">
            <a:avLst/>
          </a:prstGeom>
          <a:noFill/>
          <a:ln w="27940">
            <a:solidFill>
              <a:srgbClr val="FF4D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1673352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Current Limitations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86968" y="2075688"/>
            <a:ext cx="4672584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CD2"/>
                </a:solidFill>
              </a:rPr>
              <a:t>• Accuracy depends on camera angle and lighting.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CD2"/>
                </a:solidFill>
              </a:rPr>
              <a:t>• Occlusion affects distant-person detection.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CD2"/>
                </a:solidFill>
              </a:rPr>
              <a:t>• Laptop is required for full YOLO MVP.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CD2"/>
                </a:solidFill>
              </a:rPr>
              <a:t>• Energy values are estimates without smart metering.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CD2"/>
                </a:solidFill>
              </a:rPr>
              <a:t>• Certified safety is required for mains deployment.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14173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01968" y="1563624"/>
            <a:ext cx="685800" cy="0"/>
          </a:xfrm>
          <a:prstGeom prst="line">
            <a:avLst/>
          </a:prstGeom>
          <a:noFill/>
          <a:ln w="27940">
            <a:solidFill>
              <a:srgbClr val="72F0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1673352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Future Enhancements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601968" y="2075688"/>
            <a:ext cx="4672584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CD2"/>
                </a:solidFill>
              </a:rPr>
              <a:t>• Multi-camera and multi-room support.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CD2"/>
                </a:solidFill>
              </a:rPr>
              <a:t>• Smart meter and current-sensor integration.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CD2"/>
                </a:solidFill>
              </a:rPr>
              <a:t>• Cloud analytics and long-term reports.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CD2"/>
                </a:solidFill>
              </a:rPr>
              <a:t>• Predictive energy optimisation.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CD2"/>
                </a:solidFill>
              </a:rPr>
              <a:t>• Campus-scale building-management integration.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5800" y="3794760"/>
            <a:ext cx="10789920" cy="1207008"/>
          </a:xfrm>
          <a:prstGeom prst="roundRect">
            <a:avLst>
              <a:gd name="adj" fmla="val 6061"/>
            </a:avLst>
          </a:prstGeom>
          <a:solidFill>
            <a:srgbClr val="0D2238">
              <a:alpha val="96000"/>
            </a:srgbClr>
          </a:solidFill>
          <a:ln w="9525">
            <a:solidFill>
              <a:srgbClr val="355474">
                <a:alpha val="8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6968" y="3941064"/>
            <a:ext cx="685800" cy="0"/>
          </a:xfrm>
          <a:prstGeom prst="line">
            <a:avLst/>
          </a:prstGeom>
          <a:noFill/>
          <a:ln w="27940">
            <a:solidFill>
              <a:srgbClr val="17D9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4050792"/>
            <a:ext cx="10387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6FAFF"/>
                </a:solidFill>
              </a:rPr>
              <a:t>Edge-AI Research Extension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86968" y="4453128"/>
            <a:ext cx="1038758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A8BCD2"/>
                </a:solidFill>
              </a:rPr>
              <a:t>A compressed ESP32-S3 edge node can use a quantized person-only micro-detector such as ESPDet-Pico. This is feasible for low-FPS occupancy detection, but the laptop-based system remains the stronger MVP for accurate multi-person detection and dashboard demonstration.</a:t>
            </a:r>
            <a:endParaRPr lang="en-US" sz="12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futuristic_smart_classroom_interior_viewe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>
              <a:alpha val="80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11480" y="137160"/>
            <a:ext cx="2286000" cy="0"/>
          </a:xfrm>
          <a:prstGeom prst="line">
            <a:avLst/>
          </a:prstGeom>
          <a:noFill/>
          <a:ln w="13970">
            <a:solidFill>
              <a:srgbClr val="17D9F7">
                <a:alpha val="4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18320" y="6537960"/>
            <a:ext cx="2194560" cy="0"/>
          </a:xfrm>
          <a:prstGeom prst="line">
            <a:avLst/>
          </a:prstGeom>
          <a:noFill/>
          <a:ln w="13970">
            <a:solidFill>
              <a:srgbClr val="21D4B0">
                <a:alpha val="4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1500000">
            <a:off x="-914400" y="-1051560"/>
            <a:ext cx="3017520" cy="3017520"/>
          </a:xfrm>
          <a:prstGeom prst="arc">
            <a:avLst/>
          </a:prstGeom>
          <a:noFill/>
          <a:ln w="20320">
            <a:solidFill>
              <a:srgbClr val="17D9F7">
                <a:alpha val="4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200000">
            <a:off x="10012680" y="5166360"/>
            <a:ext cx="2834640" cy="2834640"/>
          </a:xfrm>
          <a:prstGeom prst="arc">
            <a:avLst/>
          </a:prstGeom>
          <a:noFill/>
          <a:ln w="17780">
            <a:solidFill>
              <a:srgbClr val="21D4B0">
                <a:alpha val="39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6539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C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Visualec • AI + Computer Vision + IoT Energy Management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>
              <a:alpha val="82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8686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FA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713232" y="1481328"/>
            <a:ext cx="1554480" cy="0"/>
          </a:xfrm>
          <a:prstGeom prst="line">
            <a:avLst/>
          </a:prstGeom>
          <a:noFill/>
          <a:ln w="25400">
            <a:solidFill>
              <a:srgbClr val="17D9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18745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6FAFF"/>
                </a:solidFill>
              </a:rPr>
              <a:t>Visualec combines AI, computer vision and IoT to control electrical appliances according to real zone occupancy.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77240" y="3127248"/>
            <a:ext cx="512064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5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Reduces dependency on manual switching.</a:t>
            </a:r>
            <a:endParaRPr lang="en-US" sz="1650" dirty="0"/>
          </a:p>
          <a:p>
            <a:r>
              <a:rPr lang="en-US" sz="165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Provides modular laptop-to-ESP32 architecture.</a:t>
            </a:r>
            <a:endParaRPr lang="en-US" sz="1650" dirty="0"/>
          </a:p>
          <a:p>
            <a:r>
              <a:rPr lang="en-US" sz="165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Supports dashboard monitoring and analytics.</a:t>
            </a:r>
            <a:endParaRPr lang="en-US" sz="1650" dirty="0"/>
          </a:p>
          <a:p>
            <a:r>
              <a:rPr lang="en-US" sz="165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scale toward distributed edge-AI nodes.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446520" y="2011680"/>
            <a:ext cx="45262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7D9F7"/>
                </a:solidFill>
              </a:rPr>
              <a:t>Smarter occupancy detection.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7D9F7"/>
                </a:solidFill>
              </a:rPr>
              <a:t>Adaptive appliance control.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7D9F7"/>
                </a:solidFill>
              </a:rPr>
              <a:t>Efficient energy utilisation.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6620256" y="4160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6FAFF"/>
                </a:solidFill>
              </a:rPr>
              <a:t>Thank You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6620256" y="4754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BCD2"/>
                </a:solidFill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977</Words>
  <Application>Microsoft Office PowerPoint</Application>
  <PresentationFormat>Widescreen</PresentationFormat>
  <Paragraphs>189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Rajalakshmi Engineering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Visualec - AI-Powered Vision-Based Adaptive Grid Energy Management System</dc:title>
  <dc:subject>Visualec Symposium Presentation</dc:subject>
  <dc:creator>Sarvesh Sivasankaran</dc:creator>
  <cp:lastModifiedBy>Sarvesh S</cp:lastModifiedBy>
  <cp:revision>4</cp:revision>
  <dcterms:created xsi:type="dcterms:W3CDTF">2026-08-05T05:24:01Z</dcterms:created>
  <dcterms:modified xsi:type="dcterms:W3CDTF">2026-08-09T19:34:15Z</dcterms:modified>
</cp:coreProperties>
</file>